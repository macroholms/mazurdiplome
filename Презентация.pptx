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69" r:id="rId5"/>
    <p:sldId id="258" r:id="rId6"/>
    <p:sldId id="262" r:id="rId7"/>
    <p:sldId id="263" r:id="rId8"/>
    <p:sldId id="268" r:id="rId9"/>
    <p:sldId id="267" r:id="rId10"/>
    <p:sldId id="266" r:id="rId11"/>
    <p:sldId id="265" r:id="rId12"/>
    <p:sldId id="259" r:id="rId13"/>
    <p:sldId id="260" r:id="rId14"/>
    <p:sldId id="270" r:id="rId15"/>
    <p:sldId id="261" r:id="rId16"/>
  </p:sldIdLst>
  <p:sldSz cx="9144000" cy="5143500" type="screen16x9"/>
  <p:notesSz cx="5143500" cy="9144000"/>
  <p:embeddedFontLst>
    <p:embeddedFont>
      <p:font typeface="Book Antiqua" panose="02040602050305030304" pitchFamily="18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Kanit Light" panose="020B0604020202020204" charset="-34"/>
      <p:regular r:id="rId26"/>
    </p:embeddedFont>
    <p:embeddedFont>
      <p:font typeface="Martel Sans" panose="020B0604020202020204" charset="0"/>
      <p:regular r:id="rId2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9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27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9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29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75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70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28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93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81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60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-6394"/>
            <a:ext cx="1061471" cy="5149894"/>
          </a:xfrm>
          <a:custGeom>
            <a:avLst/>
            <a:gdLst>
              <a:gd name="connsiteX0" fmla="*/ 0 w 1796828"/>
              <a:gd name="connsiteY0" fmla="*/ 0 h 5143500"/>
              <a:gd name="connsiteX1" fmla="*/ 1796828 w 1796828"/>
              <a:gd name="connsiteY1" fmla="*/ 0 h 5143500"/>
              <a:gd name="connsiteX2" fmla="*/ 1796828 w 1796828"/>
              <a:gd name="connsiteY2" fmla="*/ 5143500 h 5143500"/>
              <a:gd name="connsiteX3" fmla="*/ 0 w 1796828"/>
              <a:gd name="connsiteY3" fmla="*/ 5143500 h 5143500"/>
              <a:gd name="connsiteX4" fmla="*/ 0 w 1796828"/>
              <a:gd name="connsiteY4" fmla="*/ 0 h 5143500"/>
              <a:gd name="connsiteX0" fmla="*/ 0 w 1796828"/>
              <a:gd name="connsiteY0" fmla="*/ 6394 h 5149894"/>
              <a:gd name="connsiteX1" fmla="*/ 492369 w 1796828"/>
              <a:gd name="connsiteY1" fmla="*/ 0 h 5149894"/>
              <a:gd name="connsiteX2" fmla="*/ 1796828 w 1796828"/>
              <a:gd name="connsiteY2" fmla="*/ 5149894 h 5149894"/>
              <a:gd name="connsiteX3" fmla="*/ 0 w 1796828"/>
              <a:gd name="connsiteY3" fmla="*/ 5149894 h 5149894"/>
              <a:gd name="connsiteX4" fmla="*/ 0 w 1796828"/>
              <a:gd name="connsiteY4" fmla="*/ 6394 h 5149894"/>
              <a:gd name="connsiteX0" fmla="*/ 0 w 1796828"/>
              <a:gd name="connsiteY0" fmla="*/ 6394 h 5149894"/>
              <a:gd name="connsiteX1" fmla="*/ 492369 w 1796828"/>
              <a:gd name="connsiteY1" fmla="*/ 0 h 5149894"/>
              <a:gd name="connsiteX2" fmla="*/ 1796828 w 1796828"/>
              <a:gd name="connsiteY2" fmla="*/ 5149894 h 5149894"/>
              <a:gd name="connsiteX3" fmla="*/ 0 w 1796828"/>
              <a:gd name="connsiteY3" fmla="*/ 5149894 h 5149894"/>
              <a:gd name="connsiteX4" fmla="*/ 0 w 1796828"/>
              <a:gd name="connsiteY4" fmla="*/ 6394 h 5149894"/>
              <a:gd name="connsiteX0" fmla="*/ 0 w 1061471"/>
              <a:gd name="connsiteY0" fmla="*/ 6394 h 5149894"/>
              <a:gd name="connsiteX1" fmla="*/ 492369 w 1061471"/>
              <a:gd name="connsiteY1" fmla="*/ 0 h 5149894"/>
              <a:gd name="connsiteX2" fmla="*/ 1061471 w 1061471"/>
              <a:gd name="connsiteY2" fmla="*/ 5149894 h 5149894"/>
              <a:gd name="connsiteX3" fmla="*/ 0 w 1061471"/>
              <a:gd name="connsiteY3" fmla="*/ 5149894 h 5149894"/>
              <a:gd name="connsiteX4" fmla="*/ 0 w 1061471"/>
              <a:gd name="connsiteY4" fmla="*/ 6394 h 514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1471" h="5149894">
                <a:moveTo>
                  <a:pt x="0" y="6394"/>
                </a:moveTo>
                <a:lnTo>
                  <a:pt x="492369" y="0"/>
                </a:lnTo>
                <a:cubicBezTo>
                  <a:pt x="-31972" y="1671871"/>
                  <a:pt x="626651" y="3433263"/>
                  <a:pt x="1061471" y="5149894"/>
                </a:cubicBezTo>
                <a:lnTo>
                  <a:pt x="0" y="5149894"/>
                </a:lnTo>
                <a:lnTo>
                  <a:pt x="0" y="6394"/>
                </a:lnTo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AEC0E169-5049-4315-8E8D-359EAF32567A}"/>
              </a:ext>
            </a:extLst>
          </p:cNvPr>
          <p:cNvSpPr/>
          <p:nvPr/>
        </p:nvSpPr>
        <p:spPr>
          <a:xfrm>
            <a:off x="7347170" y="0"/>
            <a:ext cx="1796831" cy="5143500"/>
          </a:xfrm>
          <a:custGeom>
            <a:avLst/>
            <a:gdLst>
              <a:gd name="connsiteX0" fmla="*/ 0 w 1796828"/>
              <a:gd name="connsiteY0" fmla="*/ 0 h 5143500"/>
              <a:gd name="connsiteX1" fmla="*/ 1796828 w 1796828"/>
              <a:gd name="connsiteY1" fmla="*/ 0 h 5143500"/>
              <a:gd name="connsiteX2" fmla="*/ 1796828 w 1796828"/>
              <a:gd name="connsiteY2" fmla="*/ 5143500 h 5143500"/>
              <a:gd name="connsiteX3" fmla="*/ 0 w 1796828"/>
              <a:gd name="connsiteY3" fmla="*/ 5143500 h 5143500"/>
              <a:gd name="connsiteX4" fmla="*/ 0 w 1796828"/>
              <a:gd name="connsiteY4" fmla="*/ 0 h 5143500"/>
              <a:gd name="connsiteX0" fmla="*/ 5 w 1796833"/>
              <a:gd name="connsiteY0" fmla="*/ 0 h 5143500"/>
              <a:gd name="connsiteX1" fmla="*/ 1796833 w 1796833"/>
              <a:gd name="connsiteY1" fmla="*/ 0 h 5143500"/>
              <a:gd name="connsiteX2" fmla="*/ 1796833 w 1796833"/>
              <a:gd name="connsiteY2" fmla="*/ 5143500 h 5143500"/>
              <a:gd name="connsiteX3" fmla="*/ 5 w 1796833"/>
              <a:gd name="connsiteY3" fmla="*/ 5143500 h 5143500"/>
              <a:gd name="connsiteX4" fmla="*/ 613868 w 1796833"/>
              <a:gd name="connsiteY4" fmla="*/ 2397902 h 5143500"/>
              <a:gd name="connsiteX5" fmla="*/ 5 w 1796833"/>
              <a:gd name="connsiteY5" fmla="*/ 0 h 5143500"/>
              <a:gd name="connsiteX0" fmla="*/ 824884 w 1796833"/>
              <a:gd name="connsiteY0" fmla="*/ 0 h 5143500"/>
              <a:gd name="connsiteX1" fmla="*/ 1796833 w 1796833"/>
              <a:gd name="connsiteY1" fmla="*/ 0 h 5143500"/>
              <a:gd name="connsiteX2" fmla="*/ 1796833 w 1796833"/>
              <a:gd name="connsiteY2" fmla="*/ 5143500 h 5143500"/>
              <a:gd name="connsiteX3" fmla="*/ 5 w 1796833"/>
              <a:gd name="connsiteY3" fmla="*/ 5143500 h 5143500"/>
              <a:gd name="connsiteX4" fmla="*/ 613868 w 1796833"/>
              <a:gd name="connsiteY4" fmla="*/ 2397902 h 5143500"/>
              <a:gd name="connsiteX5" fmla="*/ 824884 w 1796833"/>
              <a:gd name="connsiteY5" fmla="*/ 0 h 5143500"/>
              <a:gd name="connsiteX0" fmla="*/ 824890 w 1796839"/>
              <a:gd name="connsiteY0" fmla="*/ 0 h 5143500"/>
              <a:gd name="connsiteX1" fmla="*/ 1796839 w 1796839"/>
              <a:gd name="connsiteY1" fmla="*/ 0 h 5143500"/>
              <a:gd name="connsiteX2" fmla="*/ 1796839 w 1796839"/>
              <a:gd name="connsiteY2" fmla="*/ 5143500 h 5143500"/>
              <a:gd name="connsiteX3" fmla="*/ 11 w 1796839"/>
              <a:gd name="connsiteY3" fmla="*/ 5143500 h 5143500"/>
              <a:gd name="connsiteX4" fmla="*/ 287759 w 1796839"/>
              <a:gd name="connsiteY4" fmla="*/ 2270014 h 5143500"/>
              <a:gd name="connsiteX5" fmla="*/ 824890 w 1796839"/>
              <a:gd name="connsiteY5" fmla="*/ 0 h 5143500"/>
              <a:gd name="connsiteX0" fmla="*/ 824887 w 1796836"/>
              <a:gd name="connsiteY0" fmla="*/ 0 h 5143500"/>
              <a:gd name="connsiteX1" fmla="*/ 1796836 w 1796836"/>
              <a:gd name="connsiteY1" fmla="*/ 0 h 5143500"/>
              <a:gd name="connsiteX2" fmla="*/ 1796836 w 1796836"/>
              <a:gd name="connsiteY2" fmla="*/ 5143500 h 5143500"/>
              <a:gd name="connsiteX3" fmla="*/ 8 w 1796836"/>
              <a:gd name="connsiteY3" fmla="*/ 5143500 h 5143500"/>
              <a:gd name="connsiteX4" fmla="*/ 460405 w 1796836"/>
              <a:gd name="connsiteY4" fmla="*/ 2321170 h 5143500"/>
              <a:gd name="connsiteX5" fmla="*/ 824887 w 1796836"/>
              <a:gd name="connsiteY5" fmla="*/ 0 h 5143500"/>
              <a:gd name="connsiteX0" fmla="*/ 824884 w 1796833"/>
              <a:gd name="connsiteY0" fmla="*/ 0 h 5143500"/>
              <a:gd name="connsiteX1" fmla="*/ 1796833 w 1796833"/>
              <a:gd name="connsiteY1" fmla="*/ 0 h 5143500"/>
              <a:gd name="connsiteX2" fmla="*/ 1796833 w 1796833"/>
              <a:gd name="connsiteY2" fmla="*/ 5143500 h 5143500"/>
              <a:gd name="connsiteX3" fmla="*/ 5 w 1796833"/>
              <a:gd name="connsiteY3" fmla="*/ 5143500 h 5143500"/>
              <a:gd name="connsiteX4" fmla="*/ 716178 w 1796833"/>
              <a:gd name="connsiteY4" fmla="*/ 2340353 h 5143500"/>
              <a:gd name="connsiteX5" fmla="*/ 824884 w 1796833"/>
              <a:gd name="connsiteY5" fmla="*/ 0 h 5143500"/>
              <a:gd name="connsiteX0" fmla="*/ 824884 w 1796833"/>
              <a:gd name="connsiteY0" fmla="*/ 0 h 5143500"/>
              <a:gd name="connsiteX1" fmla="*/ 1796833 w 1796833"/>
              <a:gd name="connsiteY1" fmla="*/ 0 h 5143500"/>
              <a:gd name="connsiteX2" fmla="*/ 1796833 w 1796833"/>
              <a:gd name="connsiteY2" fmla="*/ 5143500 h 5143500"/>
              <a:gd name="connsiteX3" fmla="*/ 5 w 1796833"/>
              <a:gd name="connsiteY3" fmla="*/ 5143500 h 5143500"/>
              <a:gd name="connsiteX4" fmla="*/ 716178 w 1796833"/>
              <a:gd name="connsiteY4" fmla="*/ 2340353 h 5143500"/>
              <a:gd name="connsiteX5" fmla="*/ 824884 w 1796833"/>
              <a:gd name="connsiteY5" fmla="*/ 0 h 5143500"/>
              <a:gd name="connsiteX0" fmla="*/ 824883 w 1796832"/>
              <a:gd name="connsiteY0" fmla="*/ 0 h 5143500"/>
              <a:gd name="connsiteX1" fmla="*/ 1796832 w 1796832"/>
              <a:gd name="connsiteY1" fmla="*/ 0 h 5143500"/>
              <a:gd name="connsiteX2" fmla="*/ 1796832 w 1796832"/>
              <a:gd name="connsiteY2" fmla="*/ 5143500 h 5143500"/>
              <a:gd name="connsiteX3" fmla="*/ 4 w 1796832"/>
              <a:gd name="connsiteY3" fmla="*/ 5143500 h 5143500"/>
              <a:gd name="connsiteX4" fmla="*/ 716177 w 1796832"/>
              <a:gd name="connsiteY4" fmla="*/ 2340353 h 5143500"/>
              <a:gd name="connsiteX5" fmla="*/ 824883 w 1796832"/>
              <a:gd name="connsiteY5" fmla="*/ 0 h 5143500"/>
              <a:gd name="connsiteX0" fmla="*/ 824882 w 1796831"/>
              <a:gd name="connsiteY0" fmla="*/ 0 h 5143500"/>
              <a:gd name="connsiteX1" fmla="*/ 1796831 w 1796831"/>
              <a:gd name="connsiteY1" fmla="*/ 0 h 5143500"/>
              <a:gd name="connsiteX2" fmla="*/ 1796831 w 1796831"/>
              <a:gd name="connsiteY2" fmla="*/ 5143500 h 5143500"/>
              <a:gd name="connsiteX3" fmla="*/ 3 w 1796831"/>
              <a:gd name="connsiteY3" fmla="*/ 5143500 h 5143500"/>
              <a:gd name="connsiteX4" fmla="*/ 837670 w 1796831"/>
              <a:gd name="connsiteY4" fmla="*/ 2340353 h 5143500"/>
              <a:gd name="connsiteX5" fmla="*/ 824882 w 1796831"/>
              <a:gd name="connsiteY5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6831" h="5143500">
                <a:moveTo>
                  <a:pt x="824882" y="0"/>
                </a:moveTo>
                <a:lnTo>
                  <a:pt x="1796831" y="0"/>
                </a:lnTo>
                <a:lnTo>
                  <a:pt x="1796831" y="5143500"/>
                </a:lnTo>
                <a:lnTo>
                  <a:pt x="3" y="5143500"/>
                </a:lnTo>
                <a:cubicBezTo>
                  <a:pt x="-2128" y="4221906"/>
                  <a:pt x="1191494" y="3229975"/>
                  <a:pt x="837670" y="2340353"/>
                </a:cubicBezTo>
                <a:cubicBezTo>
                  <a:pt x="1308725" y="1630573"/>
                  <a:pt x="788647" y="780118"/>
                  <a:pt x="824882" y="0"/>
                </a:cubicBezTo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9005E37B-CC13-4FAE-AD1E-D72DA52EB2C2}"/>
              </a:ext>
            </a:extLst>
          </p:cNvPr>
          <p:cNvSpPr txBox="1"/>
          <p:nvPr/>
        </p:nvSpPr>
        <p:spPr>
          <a:xfrm>
            <a:off x="525760" y="0"/>
            <a:ext cx="7462520" cy="15446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0D0D0D"/>
                </a:solidFill>
                <a:latin typeface="Times New Roman"/>
                <a:cs typeface="Times New Roman"/>
              </a:rPr>
              <a:t>Бюджетное</a:t>
            </a:r>
            <a:r>
              <a:rPr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D0D0D"/>
                </a:solidFill>
                <a:latin typeface="Times New Roman"/>
                <a:cs typeface="Times New Roman"/>
              </a:rPr>
              <a:t>профессиональное</a:t>
            </a:r>
            <a:r>
              <a:rPr spc="-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pc="-30" dirty="0">
                <a:solidFill>
                  <a:srgbClr val="0D0D0D"/>
                </a:solidFill>
                <a:latin typeface="Times New Roman"/>
                <a:cs typeface="Times New Roman"/>
              </a:rPr>
              <a:t>образовательное</a:t>
            </a:r>
            <a:r>
              <a:rPr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pc="-45" dirty="0">
                <a:solidFill>
                  <a:srgbClr val="0D0D0D"/>
                </a:solidFill>
                <a:latin typeface="Times New Roman"/>
                <a:cs typeface="Times New Roman"/>
              </a:rPr>
              <a:t>учреждение</a:t>
            </a:r>
            <a:r>
              <a:rPr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0D0D0D"/>
                </a:solidFill>
                <a:latin typeface="Times New Roman"/>
                <a:cs typeface="Times New Roman"/>
              </a:rPr>
              <a:t>«Омский</a:t>
            </a:r>
            <a:endParaRPr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pc="-25" dirty="0">
                <a:solidFill>
                  <a:srgbClr val="0D0D0D"/>
                </a:solidFill>
                <a:latin typeface="Times New Roman"/>
                <a:cs typeface="Times New Roman"/>
              </a:rPr>
              <a:t>авиационный</a:t>
            </a:r>
            <a:r>
              <a:rPr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pc="-60" dirty="0">
                <a:solidFill>
                  <a:srgbClr val="0D0D0D"/>
                </a:solidFill>
                <a:latin typeface="Times New Roman"/>
                <a:cs typeface="Times New Roman"/>
              </a:rPr>
              <a:t>колледж</a:t>
            </a:r>
            <a:r>
              <a:rPr spc="-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0D0D0D"/>
                </a:solidFill>
                <a:latin typeface="Times New Roman"/>
                <a:cs typeface="Times New Roman"/>
              </a:rPr>
              <a:t>имени</a:t>
            </a:r>
            <a:r>
              <a:rPr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D0D0D"/>
                </a:solidFill>
                <a:latin typeface="Times New Roman"/>
                <a:cs typeface="Times New Roman"/>
              </a:rPr>
              <a:t>Н.Е.</a:t>
            </a:r>
            <a:r>
              <a:rPr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0D0D0D"/>
                </a:solidFill>
                <a:latin typeface="Times New Roman"/>
                <a:cs typeface="Times New Roman"/>
              </a:rPr>
              <a:t>Жуковского»</a:t>
            </a:r>
            <a:endParaRPr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lang="ru-RU" dirty="0">
              <a:latin typeface="Times New Roman"/>
              <a:cs typeface="Times New Roman"/>
            </a:endParaRPr>
          </a:p>
          <a:p>
            <a:pPr marL="1586865">
              <a:lnSpc>
                <a:spcPct val="100000"/>
              </a:lnSpc>
            </a:pPr>
            <a:r>
              <a:rPr sz="2000" b="1" spc="-35" dirty="0" err="1">
                <a:solidFill>
                  <a:srgbClr val="0D0D0D"/>
                </a:solidFill>
                <a:latin typeface="Times New Roman"/>
                <a:cs typeface="Times New Roman"/>
              </a:rPr>
              <a:t>Выпускная</a:t>
            </a:r>
            <a:r>
              <a:rPr sz="2000" b="1" spc="-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b="1" spc="-45" dirty="0">
                <a:solidFill>
                  <a:srgbClr val="0D0D0D"/>
                </a:solidFill>
                <a:latin typeface="Times New Roman"/>
                <a:cs typeface="Times New Roman"/>
              </a:rPr>
              <a:t>квалификационная</a:t>
            </a:r>
            <a:r>
              <a:rPr sz="2000" b="1" spc="-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работа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1C196B1D-9D7E-4685-B298-7331AB4404C7}"/>
              </a:ext>
            </a:extLst>
          </p:cNvPr>
          <p:cNvSpPr txBox="1"/>
          <p:nvPr/>
        </p:nvSpPr>
        <p:spPr>
          <a:xfrm>
            <a:off x="459865" y="1827707"/>
            <a:ext cx="787844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30" dirty="0">
                <a:solidFill>
                  <a:srgbClr val="002D55"/>
                </a:solidFill>
                <a:latin typeface="Times New Roman"/>
                <a:cs typeface="Times New Roman"/>
              </a:rPr>
              <a:t>«Разработка</a:t>
            </a:r>
            <a:r>
              <a:rPr sz="4000" spc="-160" dirty="0">
                <a:solidFill>
                  <a:srgbClr val="002D55"/>
                </a:solidFill>
                <a:latin typeface="Times New Roman"/>
                <a:cs typeface="Times New Roman"/>
              </a:rPr>
              <a:t> </a:t>
            </a:r>
            <a:r>
              <a:rPr sz="4000" spc="-30" dirty="0" err="1">
                <a:solidFill>
                  <a:srgbClr val="002D55"/>
                </a:solidFill>
                <a:latin typeface="Times New Roman"/>
                <a:cs typeface="Times New Roman"/>
              </a:rPr>
              <a:t>приложения</a:t>
            </a:r>
            <a:r>
              <a:rPr sz="4000" spc="-185" dirty="0">
                <a:solidFill>
                  <a:srgbClr val="002D55"/>
                </a:solidFill>
                <a:latin typeface="Times New Roman"/>
                <a:cs typeface="Times New Roman"/>
              </a:rPr>
              <a:t> </a:t>
            </a:r>
            <a:r>
              <a:rPr lang="ru-RU" sz="4000" spc="-185" dirty="0">
                <a:solidFill>
                  <a:srgbClr val="002D55"/>
                </a:solidFill>
                <a:latin typeface="Times New Roman"/>
                <a:cs typeface="Times New Roman"/>
              </a:rPr>
              <a:t>для ветеринарной клиники «Верный друг»</a:t>
            </a:r>
            <a:r>
              <a:rPr sz="4000" spc="-395" dirty="0">
                <a:solidFill>
                  <a:srgbClr val="002D55"/>
                </a:solidFill>
                <a:latin typeface="Times New Roman"/>
                <a:cs typeface="Times New Roman"/>
              </a:rPr>
              <a:t>»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EE4B4FD0-5739-4FF2-AB5C-E4CB81559E5A}"/>
              </a:ext>
            </a:extLst>
          </p:cNvPr>
          <p:cNvSpPr txBox="1"/>
          <p:nvPr/>
        </p:nvSpPr>
        <p:spPr>
          <a:xfrm>
            <a:off x="459865" y="3463749"/>
            <a:ext cx="7811134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Times New Roman"/>
                <a:cs typeface="Times New Roman"/>
              </a:rPr>
              <a:t>Дипломник: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lang="ru-RU" sz="2000" spc="-20" dirty="0">
                <a:latin typeface="Times New Roman"/>
                <a:cs typeface="Times New Roman"/>
              </a:rPr>
              <a:t>Мазур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И.</a:t>
            </a:r>
            <a:r>
              <a:rPr lang="ru-RU" sz="2000" spc="-20" dirty="0">
                <a:latin typeface="Times New Roman"/>
                <a:cs typeface="Times New Roman"/>
              </a:rPr>
              <a:t>Д</a:t>
            </a:r>
            <a:r>
              <a:rPr sz="2000" spc="-2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65" dirty="0">
                <a:latin typeface="Times New Roman"/>
                <a:cs typeface="Times New Roman"/>
              </a:rPr>
              <a:t>студент</a:t>
            </a:r>
            <a:r>
              <a:rPr sz="2000" spc="-45" dirty="0">
                <a:latin typeface="Times New Roman"/>
                <a:cs typeface="Times New Roman"/>
              </a:rPr>
              <a:t> группы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ПР412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25" dirty="0">
                <a:latin typeface="Times New Roman"/>
                <a:cs typeface="Times New Roman"/>
              </a:rPr>
              <a:t>специальности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09.02.07.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Информационные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системы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и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программирование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45" dirty="0">
                <a:latin typeface="Times New Roman"/>
                <a:cs typeface="Times New Roman"/>
              </a:rPr>
              <a:t>Руководитель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работы: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lang="ru-RU" sz="2000" spc="-30" dirty="0">
                <a:latin typeface="Times New Roman"/>
                <a:cs typeface="Times New Roman"/>
              </a:rPr>
              <a:t>Бабикова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lang="ru-RU" sz="2000" spc="-20" dirty="0">
                <a:latin typeface="Times New Roman"/>
                <a:cs typeface="Times New Roman"/>
              </a:rPr>
              <a:t>Т</a:t>
            </a:r>
            <a:r>
              <a:rPr sz="2000" spc="-20" dirty="0">
                <a:latin typeface="Times New Roman"/>
                <a:cs typeface="Times New Roman"/>
              </a:rPr>
              <a:t>.</a:t>
            </a:r>
            <a:r>
              <a:rPr lang="ru-RU" sz="2000" spc="-20" dirty="0">
                <a:latin typeface="Times New Roman"/>
                <a:cs typeface="Times New Roman"/>
              </a:rPr>
              <a:t>М</a:t>
            </a:r>
            <a:r>
              <a:rPr sz="2000" spc="-2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264" y="0"/>
            <a:ext cx="257881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Предметная область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80767" y="667032"/>
            <a:ext cx="8382466" cy="4288632"/>
          </a:xfrm>
          <a:prstGeom prst="roundRect">
            <a:avLst>
              <a:gd name="adj" fmla="val 4337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ru-RU" sz="1600" dirty="0"/>
          </a:p>
        </p:txBody>
      </p:sp>
      <p:sp>
        <p:nvSpPr>
          <p:cNvPr id="5" name="Text 2"/>
          <p:cNvSpPr/>
          <p:nvPr/>
        </p:nvSpPr>
        <p:spPr>
          <a:xfrm>
            <a:off x="4452640" y="518964"/>
            <a:ext cx="1190625" cy="325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4939" y="710108"/>
            <a:ext cx="8154326" cy="418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ct val="111000"/>
              </a:lnSpc>
              <a:buFont typeface="Kanit Light" panose="020B0604020202020204" charset="-34"/>
              <a:buChar char="‒"/>
            </a:pPr>
            <a:r>
              <a:rPr lang="ru-RU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Запись на приём — только по телефону, линия перегружена, учёт в бумажном журнале. При отмене «окна» не заполняются.</a:t>
            </a:r>
          </a:p>
          <a:p>
            <a:pPr marL="285750" indent="-285750">
              <a:lnSpc>
                <a:spcPct val="111000"/>
              </a:lnSpc>
              <a:buFont typeface="Kanit Light" panose="020B0604020202020204" charset="-34"/>
              <a:buChar char="‒"/>
            </a:pPr>
            <a:r>
              <a:rPr lang="ru-RU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Медицинские карты — бумажные, хранятся в картотеке. Почерк врачей неразборчив, карты теряются или перемещаются между кабинетами.</a:t>
            </a:r>
          </a:p>
          <a:p>
            <a:pPr marL="285750" indent="-285750">
              <a:lnSpc>
                <a:spcPct val="111000"/>
              </a:lnSpc>
              <a:buFont typeface="Kanit Light" panose="020B0604020202020204" charset="-34"/>
              <a:buChar char="‒"/>
            </a:pPr>
            <a:r>
              <a:rPr lang="ru-RU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Складской учёт — бумажные журналы прихода-расхода. Контроль сроков годности — визуальный, просрочка выявляется только при отпуске. Инвентаризация раз в квартал.</a:t>
            </a:r>
            <a:endParaRPr lang="ru-RU" sz="1600" dirty="0">
              <a:solidFill>
                <a:srgbClr val="2C3249"/>
              </a:solidFill>
              <a:latin typeface="Kanit Light" pitchFamily="34" charset="0"/>
              <a:ea typeface="Kanit Light" pitchFamily="34" charset="-122"/>
              <a:cs typeface="Kanit Light" pitchFamily="34" charset="-120"/>
            </a:endParaRPr>
          </a:p>
          <a:p>
            <a:pPr marL="285750" indent="-285750">
              <a:lnSpc>
                <a:spcPct val="111000"/>
              </a:lnSpc>
              <a:buFont typeface="Kanit Light" panose="020B0604020202020204" charset="-34"/>
              <a:buChar char="‒"/>
            </a:pPr>
            <a:r>
              <a:rPr lang="ru-RU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Учёт выручки — ручной подсчёт по чекам в конце смены. Нет единой базы задолженностей.</a:t>
            </a:r>
          </a:p>
          <a:p>
            <a:pPr marL="285750" indent="-285750">
              <a:lnSpc>
                <a:spcPct val="111000"/>
              </a:lnSpc>
              <a:buFont typeface="Kanit Light" panose="020B0604020202020204" charset="-34"/>
              <a:buChar char="‒"/>
            </a:pPr>
            <a:r>
              <a:rPr lang="ru-RU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Направления на анализы — бумажные бланки. Результаты вклеиваются в карту или теряются.</a:t>
            </a:r>
          </a:p>
          <a:p>
            <a:pPr marL="285750" indent="-285750">
              <a:lnSpc>
                <a:spcPct val="111000"/>
              </a:lnSpc>
              <a:buFont typeface="Kanit Light" panose="020B0604020202020204" charset="-34"/>
              <a:buChar char="‒"/>
            </a:pPr>
            <a:r>
              <a:rPr lang="ru-RU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Связь с клиентами — только телефон. Напоминания о вакцинации не отправляются. Клиенты не имеют доступа к истории лечения.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578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264" y="0"/>
            <a:ext cx="257881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Цель</a:t>
            </a: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</a:t>
            </a:r>
            <a:r>
              <a:rPr lang="ru-RU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ВКР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84264" y="667032"/>
            <a:ext cx="8382466" cy="1238501"/>
          </a:xfrm>
          <a:prstGeom prst="roundRect">
            <a:avLst>
              <a:gd name="adj" fmla="val 4337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 2"/>
          <p:cNvSpPr/>
          <p:nvPr/>
        </p:nvSpPr>
        <p:spPr>
          <a:xfrm>
            <a:off x="4452640" y="518964"/>
            <a:ext cx="1190625" cy="325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4939" y="710109"/>
            <a:ext cx="8154326" cy="11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1000"/>
              </a:lnSpc>
            </a:pPr>
            <a:r>
              <a:rPr lang="en-US" sz="1600" dirty="0" err="1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Цель</a:t>
            </a:r>
            <a:r>
              <a:rPr lang="ru-RU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–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разработать приложение для ветеринарной клиники для сотрудников, позволяющей автоматизировать процессы записи на приём, ведения электронных медицинских карт питомцев, складского учёта и формирования отчётности.</a:t>
            </a:r>
          </a:p>
          <a:p>
            <a:pPr>
              <a:lnSpc>
                <a:spcPct val="111000"/>
              </a:lnSpc>
            </a:pPr>
            <a:endParaRPr lang="en-US" sz="16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32B2EBD-FBF5-419B-AFF9-656EA96F0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4" y="1957403"/>
            <a:ext cx="8857575" cy="29502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264" y="0"/>
            <a:ext cx="257881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З</a:t>
            </a:r>
            <a:r>
              <a:rPr lang="en-US" sz="4000" dirty="0" err="1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адачи</a:t>
            </a: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</a:t>
            </a:r>
            <a:r>
              <a:rPr lang="ru-RU" sz="4000" dirty="0" err="1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вкр</a:t>
            </a:r>
            <a:endParaRPr lang="en-US" sz="40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334902"/>
            <a:ext cx="2829669" cy="282966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29669" y="685208"/>
            <a:ext cx="5783595" cy="628601"/>
          </a:xfrm>
          <a:prstGeom prst="roundRect">
            <a:avLst>
              <a:gd name="adj" fmla="val 4337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52640" y="518964"/>
            <a:ext cx="1190625" cy="325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910345" y="728285"/>
            <a:ext cx="5626186" cy="57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1000"/>
              </a:lnSpc>
            </a:pPr>
            <a:r>
              <a:rPr lang="en-US" sz="1600" dirty="0" err="1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Цель</a:t>
            </a:r>
            <a:r>
              <a:rPr lang="ru-RU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– р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азработать</a:t>
            </a:r>
            <a:r>
              <a:rPr lang="ru-RU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приложение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для автоматизации работы 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ветеринарной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клиники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11651" y="1377911"/>
            <a:ext cx="1776338" cy="289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err="1">
                <a:solidFill>
                  <a:srgbClr val="2C3249"/>
                </a:solidFill>
                <a:latin typeface="Martel Sans" panose="020B0604020202020204" charset="0"/>
                <a:ea typeface="Kanit Light" pitchFamily="34" charset="-122"/>
                <a:cs typeface="Martel Sans" panose="020B0604020202020204" charset="0"/>
              </a:rPr>
              <a:t>Анализ</a:t>
            </a:r>
            <a:r>
              <a:rPr lang="en-US" sz="2000" b="1" dirty="0">
                <a:solidFill>
                  <a:srgbClr val="2C3249"/>
                </a:solidFill>
                <a:latin typeface="Martel Sans" panose="020B0604020202020204" charset="0"/>
                <a:ea typeface="Kanit Light" pitchFamily="34" charset="-122"/>
                <a:cs typeface="Martel Sans" panose="020B0604020202020204" charset="0"/>
              </a:rPr>
              <a:t> требований</a:t>
            </a:r>
            <a:endParaRPr lang="en-US" sz="2000" b="1" dirty="0">
              <a:latin typeface="Martel Sans" panose="020B0604020202020204" charset="0"/>
              <a:cs typeface="Martel Sans" panose="020B0604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11651" y="1690753"/>
            <a:ext cx="5294566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Исследовать 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предметную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область</a:t>
            </a:r>
            <a:r>
              <a:rPr lang="ru-RU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и потребности заказчика.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11651" y="2304347"/>
            <a:ext cx="22770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20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Martel Sans" panose="020B0604020202020204" charset="0"/>
              </a:rPr>
              <a:t>Разработка архитектуры</a:t>
            </a:r>
          </a:p>
        </p:txBody>
      </p:sp>
      <p:sp>
        <p:nvSpPr>
          <p:cNvPr id="12" name="Text 9"/>
          <p:cNvSpPr/>
          <p:nvPr/>
        </p:nvSpPr>
        <p:spPr>
          <a:xfrm>
            <a:off x="3311650" y="2691063"/>
            <a:ext cx="5301614" cy="55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31000"/>
              </a:lnSpc>
            </a:pP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Спроектировать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 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архитектуру</a:t>
            </a:r>
            <a:r>
              <a:rPr lang="ru-RU" sz="1600" dirty="0">
                <a:solidFill>
                  <a:srgbClr val="2C3249"/>
                </a:solidFill>
                <a:cs typeface="Martel Sans" pitchFamily="34" charset="-120"/>
              </a:rPr>
              <a:t>,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 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определить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 API, 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модел</a:t>
            </a:r>
            <a:r>
              <a:rPr lang="ru-RU" sz="1600" dirty="0">
                <a:solidFill>
                  <a:srgbClr val="2C3249"/>
                </a:solidFill>
                <a:cs typeface="Martel Sans" pitchFamily="34" charset="-120"/>
              </a:rPr>
              <a:t>ь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 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данных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 и 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права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 </a:t>
            </a:r>
            <a:r>
              <a:rPr lang="en-US" sz="1600" dirty="0" err="1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доступа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.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87D3912F-EC51-4717-8AE1-23983F36B983}"/>
              </a:ext>
            </a:extLst>
          </p:cNvPr>
          <p:cNvGrpSpPr/>
          <p:nvPr/>
        </p:nvGrpSpPr>
        <p:grpSpPr>
          <a:xfrm>
            <a:off x="2910344" y="1420304"/>
            <a:ext cx="252434" cy="247402"/>
            <a:chOff x="2829669" y="1958161"/>
            <a:chExt cx="252434" cy="247402"/>
          </a:xfrm>
        </p:grpSpPr>
        <p:sp>
          <p:nvSpPr>
            <p:cNvPr id="20" name="Shape 7">
              <a:extLst>
                <a:ext uri="{FF2B5EF4-FFF2-40B4-BE49-F238E27FC236}">
                  <a16:creationId xmlns:a16="http://schemas.microsoft.com/office/drawing/2014/main" id="{46DC70BA-39D0-4A56-B639-A230A91A2BC1}"/>
                </a:ext>
              </a:extLst>
            </p:cNvPr>
            <p:cNvSpPr/>
            <p:nvPr/>
          </p:nvSpPr>
          <p:spPr>
            <a:xfrm>
              <a:off x="2829669" y="1967437"/>
              <a:ext cx="252434" cy="238126"/>
            </a:xfrm>
            <a:prstGeom prst="roundRect">
              <a:avLst>
                <a:gd name="adj" fmla="val 5992"/>
              </a:avLst>
            </a:prstGeom>
            <a:solidFill>
              <a:srgbClr val="DFECE9"/>
            </a:solidFill>
            <a:ln w="4763">
              <a:solidFill>
                <a:srgbClr val="C5D2CF"/>
              </a:solidFill>
              <a:prstDash val="solid"/>
            </a:ln>
          </p:spPr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4EA780E2-71B5-4D83-8B63-4C8F8079C823}"/>
                </a:ext>
              </a:extLst>
            </p:cNvPr>
            <p:cNvSpPr/>
            <p:nvPr/>
          </p:nvSpPr>
          <p:spPr>
            <a:xfrm>
              <a:off x="2914132" y="1958161"/>
              <a:ext cx="110421" cy="2381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ru-RU" sz="20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Martel Sans" panose="020B0604020202020204" charset="0"/>
                </a:rPr>
                <a:t>1</a:t>
              </a:r>
              <a:endParaRPr lang="en-US" sz="2000" dirty="0">
                <a:latin typeface="Martel Sans" panose="020B0604020202020204" charset="0"/>
                <a:cs typeface="Martel Sans" panose="020B0604020202020204" charset="0"/>
              </a:endParaRP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577D0626-F8C0-4D85-AD2A-27F180DE3773}"/>
              </a:ext>
            </a:extLst>
          </p:cNvPr>
          <p:cNvGrpSpPr/>
          <p:nvPr/>
        </p:nvGrpSpPr>
        <p:grpSpPr>
          <a:xfrm>
            <a:off x="2923800" y="2338750"/>
            <a:ext cx="252434" cy="248031"/>
            <a:chOff x="2829669" y="1967437"/>
            <a:chExt cx="252434" cy="248031"/>
          </a:xfrm>
        </p:grpSpPr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5E5D8565-254C-435F-A60E-81AC76920946}"/>
                </a:ext>
              </a:extLst>
            </p:cNvPr>
            <p:cNvSpPr/>
            <p:nvPr/>
          </p:nvSpPr>
          <p:spPr>
            <a:xfrm>
              <a:off x="2829669" y="1967437"/>
              <a:ext cx="252434" cy="238126"/>
            </a:xfrm>
            <a:prstGeom prst="roundRect">
              <a:avLst>
                <a:gd name="adj" fmla="val 5992"/>
              </a:avLst>
            </a:prstGeom>
            <a:solidFill>
              <a:srgbClr val="DFECE9"/>
            </a:solidFill>
            <a:ln w="4763">
              <a:solidFill>
                <a:srgbClr val="C5D2CF"/>
              </a:solidFill>
              <a:prstDash val="solid"/>
            </a:ln>
          </p:spPr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2EC6C818-6DA4-44FA-B0B8-9BA618712998}"/>
                </a:ext>
              </a:extLst>
            </p:cNvPr>
            <p:cNvSpPr/>
            <p:nvPr/>
          </p:nvSpPr>
          <p:spPr>
            <a:xfrm>
              <a:off x="2888556" y="1977343"/>
              <a:ext cx="110421" cy="2381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ru-RU" sz="2000" dirty="0">
                  <a:solidFill>
                    <a:srgbClr val="2C3249"/>
                  </a:solidFill>
                  <a:latin typeface="Martel Sans" panose="020B0604020202020204" charset="0"/>
                  <a:cs typeface="Martel Sans" panose="020B0604020202020204" charset="0"/>
                </a:rPr>
                <a:t>2</a:t>
              </a:r>
              <a:endParaRPr lang="en-US" sz="2000" dirty="0">
                <a:latin typeface="Martel Sans" panose="020B0604020202020204" charset="0"/>
                <a:cs typeface="Martel Sans" panose="020B0604020202020204" charset="0"/>
              </a:endParaRPr>
            </a:p>
          </p:txBody>
        </p:sp>
      </p:grpSp>
      <p:sp>
        <p:nvSpPr>
          <p:cNvPr id="26" name="Text 8">
            <a:extLst>
              <a:ext uri="{FF2B5EF4-FFF2-40B4-BE49-F238E27FC236}">
                <a16:creationId xmlns:a16="http://schemas.microsoft.com/office/drawing/2014/main" id="{CDD8E9B0-8993-4AD0-97AC-E7E5AC67071F}"/>
              </a:ext>
            </a:extLst>
          </p:cNvPr>
          <p:cNvSpPr/>
          <p:nvPr/>
        </p:nvSpPr>
        <p:spPr>
          <a:xfrm>
            <a:off x="3304189" y="3299328"/>
            <a:ext cx="22770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err="1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Реализация</a:t>
            </a:r>
            <a:r>
              <a:rPr lang="en-US" sz="20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и </a:t>
            </a:r>
            <a:r>
              <a:rPr lang="en-US" sz="2000" b="1" dirty="0" err="1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тестирование</a:t>
            </a:r>
            <a:endParaRPr lang="ru-RU" sz="2000" b="1" dirty="0">
              <a:solidFill>
                <a:srgbClr val="2C3249"/>
              </a:solidFill>
              <a:latin typeface="Kanit Light" pitchFamily="34" charset="0"/>
              <a:ea typeface="Kanit Light" pitchFamily="34" charset="-122"/>
              <a:cs typeface="Martel Sans" panose="020B0604020202020204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E27F67C-1709-423D-8D9E-0F52C5753BE7}"/>
              </a:ext>
            </a:extLst>
          </p:cNvPr>
          <p:cNvSpPr/>
          <p:nvPr/>
        </p:nvSpPr>
        <p:spPr>
          <a:xfrm>
            <a:off x="3304188" y="3686044"/>
            <a:ext cx="5301614" cy="378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ru-RU" sz="16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Реализовать ключевые модули, провести тестирование.</a:t>
            </a:r>
            <a:endParaRPr lang="en-US" sz="1600" dirty="0">
              <a:solidFill>
                <a:srgbClr val="2C3249"/>
              </a:solidFill>
              <a:latin typeface="Martel Sans" pitchFamily="34" charset="0"/>
              <a:cs typeface="Martel Sans" pitchFamily="34" charset="-120"/>
            </a:endParaRP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6058A5D2-DE5F-42FC-8D59-B7A084EB4ACD}"/>
              </a:ext>
            </a:extLst>
          </p:cNvPr>
          <p:cNvGrpSpPr/>
          <p:nvPr/>
        </p:nvGrpSpPr>
        <p:grpSpPr>
          <a:xfrm>
            <a:off x="2916338" y="3333731"/>
            <a:ext cx="252434" cy="248031"/>
            <a:chOff x="2829669" y="1967437"/>
            <a:chExt cx="252434" cy="248031"/>
          </a:xfrm>
        </p:grpSpPr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E33AE965-352A-46D1-9E57-0A3F0D21E31D}"/>
                </a:ext>
              </a:extLst>
            </p:cNvPr>
            <p:cNvSpPr/>
            <p:nvPr/>
          </p:nvSpPr>
          <p:spPr>
            <a:xfrm>
              <a:off x="2829669" y="1967437"/>
              <a:ext cx="252434" cy="238126"/>
            </a:xfrm>
            <a:prstGeom prst="roundRect">
              <a:avLst>
                <a:gd name="adj" fmla="val 5992"/>
              </a:avLst>
            </a:prstGeom>
            <a:solidFill>
              <a:srgbClr val="DFECE9"/>
            </a:solidFill>
            <a:ln w="4763">
              <a:solidFill>
                <a:srgbClr val="C5D2CF"/>
              </a:solidFill>
              <a:prstDash val="solid"/>
            </a:ln>
          </p:spPr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7E760C38-A88E-4C0E-9419-6DE646084E63}"/>
                </a:ext>
              </a:extLst>
            </p:cNvPr>
            <p:cNvSpPr/>
            <p:nvPr/>
          </p:nvSpPr>
          <p:spPr>
            <a:xfrm>
              <a:off x="2888556" y="1977343"/>
              <a:ext cx="110421" cy="2381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ru-RU" sz="2000" dirty="0">
                  <a:solidFill>
                    <a:srgbClr val="2C3249"/>
                  </a:solidFill>
                  <a:latin typeface="Martel Sans" panose="020B0604020202020204" charset="0"/>
                  <a:cs typeface="Martel Sans" panose="020B0604020202020204" charset="0"/>
                </a:rPr>
                <a:t>3</a:t>
              </a:r>
              <a:endParaRPr lang="en-US" sz="2000" dirty="0">
                <a:latin typeface="Martel Sans" panose="020B0604020202020204" charset="0"/>
                <a:cs typeface="Martel Sans" panose="020B0604020202020204" charset="0"/>
              </a:endParaRPr>
            </a:p>
          </p:txBody>
        </p:sp>
      </p:grpSp>
      <p:sp>
        <p:nvSpPr>
          <p:cNvPr id="31" name="Text 8">
            <a:extLst>
              <a:ext uri="{FF2B5EF4-FFF2-40B4-BE49-F238E27FC236}">
                <a16:creationId xmlns:a16="http://schemas.microsoft.com/office/drawing/2014/main" id="{D567DD83-3A08-4245-B369-21D2EE5068D5}"/>
              </a:ext>
            </a:extLst>
          </p:cNvPr>
          <p:cNvSpPr/>
          <p:nvPr/>
        </p:nvSpPr>
        <p:spPr>
          <a:xfrm>
            <a:off x="3295411" y="4115534"/>
            <a:ext cx="22770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err="1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Оценка</a:t>
            </a:r>
            <a:r>
              <a:rPr lang="en-US" sz="20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</a:t>
            </a:r>
            <a:r>
              <a:rPr lang="en-US" sz="2000" b="1" dirty="0" err="1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эффективности</a:t>
            </a:r>
            <a:endParaRPr lang="ru-RU" sz="2000" b="1" dirty="0">
              <a:solidFill>
                <a:srgbClr val="2C3249"/>
              </a:solidFill>
              <a:latin typeface="Kanit Light" pitchFamily="34" charset="0"/>
              <a:ea typeface="Kanit Light" pitchFamily="34" charset="-122"/>
              <a:cs typeface="Martel Sans" panose="020B0604020202020204" charset="0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B032F5E9-FB61-4243-8A57-5F537273FD93}"/>
              </a:ext>
            </a:extLst>
          </p:cNvPr>
          <p:cNvSpPr/>
          <p:nvPr/>
        </p:nvSpPr>
        <p:spPr>
          <a:xfrm>
            <a:off x="3295410" y="4502250"/>
            <a:ext cx="5301614" cy="378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ru-RU" sz="16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Оценить эффективность и оформить документацию.</a:t>
            </a:r>
            <a:endParaRPr lang="en-US" sz="1600" dirty="0">
              <a:solidFill>
                <a:srgbClr val="2C3249"/>
              </a:solidFill>
              <a:latin typeface="Martel Sans" pitchFamily="34" charset="0"/>
              <a:cs typeface="Martel Sans" pitchFamily="34" charset="-120"/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1086E5CE-A37D-4C4C-88C2-95B8D9528398}"/>
              </a:ext>
            </a:extLst>
          </p:cNvPr>
          <p:cNvGrpSpPr/>
          <p:nvPr/>
        </p:nvGrpSpPr>
        <p:grpSpPr>
          <a:xfrm>
            <a:off x="2907560" y="4149937"/>
            <a:ext cx="252434" cy="248031"/>
            <a:chOff x="2829669" y="1967437"/>
            <a:chExt cx="252434" cy="248031"/>
          </a:xfrm>
        </p:grpSpPr>
        <p:sp>
          <p:nvSpPr>
            <p:cNvPr id="34" name="Shape 7">
              <a:extLst>
                <a:ext uri="{FF2B5EF4-FFF2-40B4-BE49-F238E27FC236}">
                  <a16:creationId xmlns:a16="http://schemas.microsoft.com/office/drawing/2014/main" id="{0CF22587-4802-4602-8BAC-C0632DCCADC7}"/>
                </a:ext>
              </a:extLst>
            </p:cNvPr>
            <p:cNvSpPr/>
            <p:nvPr/>
          </p:nvSpPr>
          <p:spPr>
            <a:xfrm>
              <a:off x="2829669" y="1967437"/>
              <a:ext cx="252434" cy="238126"/>
            </a:xfrm>
            <a:prstGeom prst="roundRect">
              <a:avLst>
                <a:gd name="adj" fmla="val 5992"/>
              </a:avLst>
            </a:prstGeom>
            <a:solidFill>
              <a:srgbClr val="DFECE9"/>
            </a:solidFill>
            <a:ln w="4763">
              <a:solidFill>
                <a:srgbClr val="C5D2CF"/>
              </a:solidFill>
              <a:prstDash val="solid"/>
            </a:ln>
          </p:spPr>
        </p:sp>
        <p:sp>
          <p:nvSpPr>
            <p:cNvPr id="35" name="Text 5">
              <a:extLst>
                <a:ext uri="{FF2B5EF4-FFF2-40B4-BE49-F238E27FC236}">
                  <a16:creationId xmlns:a16="http://schemas.microsoft.com/office/drawing/2014/main" id="{4851BC49-330A-46B9-B392-A7A989019E39}"/>
                </a:ext>
              </a:extLst>
            </p:cNvPr>
            <p:cNvSpPr/>
            <p:nvPr/>
          </p:nvSpPr>
          <p:spPr>
            <a:xfrm>
              <a:off x="2888556" y="1977343"/>
              <a:ext cx="110421" cy="2381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ru-RU" sz="2000" dirty="0">
                  <a:solidFill>
                    <a:srgbClr val="2C3249"/>
                  </a:solidFill>
                  <a:latin typeface="Martel Sans" panose="020B0604020202020204" charset="0"/>
                  <a:cs typeface="Martel Sans" panose="020B0604020202020204" charset="0"/>
                </a:rPr>
                <a:t>4</a:t>
              </a:r>
              <a:endParaRPr lang="en-US" sz="2000" dirty="0">
                <a:latin typeface="Martel Sans" panose="020B0604020202020204" charset="0"/>
                <a:cs typeface="Martel Sans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057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4762"/>
            <a:ext cx="9144000" cy="4358737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4" name="Text 1"/>
          <p:cNvSpPr/>
          <p:nvPr/>
        </p:nvSpPr>
        <p:spPr>
          <a:xfrm>
            <a:off x="338903" y="76043"/>
            <a:ext cx="8308978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 err="1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Диаграмма</a:t>
            </a: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</a:t>
            </a:r>
            <a:r>
              <a:rPr lang="en-US" sz="4000" dirty="0" err="1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прецеденто</a:t>
            </a:r>
            <a:r>
              <a:rPr lang="ru-RU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в</a:t>
            </a:r>
            <a:endParaRPr lang="en-US" sz="40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0CB218FB-3E97-46FE-93FE-014DE5315A00}"/>
              </a:ext>
            </a:extLst>
          </p:cNvPr>
          <p:cNvSpPr/>
          <p:nvPr/>
        </p:nvSpPr>
        <p:spPr>
          <a:xfrm>
            <a:off x="1302583" y="991132"/>
            <a:ext cx="6381617" cy="3814154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B2DF776-621C-4CE4-BF75-887CE97735D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302583" y="991132"/>
            <a:ext cx="6381617" cy="38141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4762"/>
            <a:ext cx="9144000" cy="4358737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4" name="Text 1"/>
          <p:cNvSpPr/>
          <p:nvPr/>
        </p:nvSpPr>
        <p:spPr>
          <a:xfrm>
            <a:off x="338903" y="76043"/>
            <a:ext cx="8308978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 err="1">
                <a:solidFill>
                  <a:srgbClr val="272D45"/>
                </a:solidFill>
                <a:latin typeface="Martel Sans" panose="020B0604020202020204" charset="0"/>
                <a:ea typeface="Kanit Light" pitchFamily="34" charset="-122"/>
                <a:cs typeface="Martel Sans" panose="020B0604020202020204" charset="0"/>
              </a:rPr>
              <a:t>Логическая</a:t>
            </a:r>
            <a:r>
              <a:rPr lang="en-US" sz="3600" dirty="0">
                <a:solidFill>
                  <a:srgbClr val="272D45"/>
                </a:solidFill>
                <a:latin typeface="Martel Sans" panose="020B0604020202020204" charset="0"/>
                <a:ea typeface="Kanit Light" pitchFamily="34" charset="-122"/>
                <a:cs typeface="Martel Sans" panose="020B0604020202020204" charset="0"/>
              </a:rPr>
              <a:t> </a:t>
            </a:r>
            <a:r>
              <a:rPr lang="en-US" sz="3600" dirty="0" err="1">
                <a:solidFill>
                  <a:srgbClr val="272D45"/>
                </a:solidFill>
                <a:latin typeface="Martel Sans" panose="020B0604020202020204" charset="0"/>
                <a:ea typeface="Kanit Light" pitchFamily="34" charset="-122"/>
                <a:cs typeface="Martel Sans" panose="020B0604020202020204" charset="0"/>
              </a:rPr>
              <a:t>модель</a:t>
            </a:r>
            <a:r>
              <a:rPr lang="en-US" sz="3600" dirty="0">
                <a:solidFill>
                  <a:srgbClr val="272D45"/>
                </a:solidFill>
                <a:latin typeface="Martel Sans" panose="020B0604020202020204" charset="0"/>
                <a:ea typeface="Kanit Light" pitchFamily="34" charset="-122"/>
                <a:cs typeface="Martel Sans" panose="020B0604020202020204" charset="0"/>
              </a:rPr>
              <a:t> БД (ER-</a:t>
            </a:r>
            <a:r>
              <a:rPr lang="ru-RU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Martel Sans" panose="020B0604020202020204" charset="0"/>
              </a:rPr>
              <a:t>Диаграмма</a:t>
            </a:r>
            <a:r>
              <a:rPr lang="en-US" sz="3600" dirty="0">
                <a:solidFill>
                  <a:srgbClr val="272D45"/>
                </a:solidFill>
                <a:latin typeface="Martel Sans" panose="020B0604020202020204" charset="0"/>
                <a:ea typeface="Kanit Light" pitchFamily="34" charset="-122"/>
                <a:cs typeface="Martel Sans" panose="020B0604020202020204" charset="0"/>
              </a:rPr>
              <a:t>)</a:t>
            </a:r>
            <a:endParaRPr lang="en-US" sz="3600" dirty="0">
              <a:latin typeface="Martel Sans" panose="020B0604020202020204" charset="0"/>
              <a:cs typeface="Martel Sans" panose="020B060402020202020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8C332C-97DC-430C-9A74-D2FA4D888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4" y="984877"/>
            <a:ext cx="7197456" cy="395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7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38204"/>
            <a:ext cx="9144000" cy="4005295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4" name="Text 1"/>
          <p:cNvSpPr/>
          <p:nvPr/>
        </p:nvSpPr>
        <p:spPr>
          <a:xfrm>
            <a:off x="338903" y="76043"/>
            <a:ext cx="8670814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Фрагмент ER-диаграммы «Пользователи, роли, уведомления и аудит»</a:t>
            </a:r>
            <a:endParaRPr lang="en-US" sz="3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E162C5-0DD7-41AF-9287-AFB86761782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338903" y="1280511"/>
            <a:ext cx="8440616" cy="368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38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38204"/>
            <a:ext cx="9144000" cy="4005295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4" name="Text 1"/>
          <p:cNvSpPr/>
          <p:nvPr/>
        </p:nvSpPr>
        <p:spPr>
          <a:xfrm>
            <a:off x="338903" y="76043"/>
            <a:ext cx="8670814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Фрагмент ER-диаграммы «Питомцы и их медицинские данные»</a:t>
            </a:r>
            <a:endParaRPr lang="en-US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2FD8B6-2564-4BDE-B1CC-DAA56731418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338903" y="1237111"/>
            <a:ext cx="8415038" cy="364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433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38204"/>
            <a:ext cx="9144000" cy="4005295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4" name="Text 1"/>
          <p:cNvSpPr/>
          <p:nvPr/>
        </p:nvSpPr>
        <p:spPr>
          <a:xfrm>
            <a:off x="338903" y="76043"/>
            <a:ext cx="8670814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Фрагмент ER-диаграммы «Расписание и запись»</a:t>
            </a:r>
            <a:endParaRPr lang="en-US" sz="32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126A25-58F1-4521-94D3-7317168C85E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971947" y="1257006"/>
            <a:ext cx="6957115" cy="371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4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38204"/>
            <a:ext cx="9144000" cy="4005295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4" name="Text 1"/>
          <p:cNvSpPr/>
          <p:nvPr/>
        </p:nvSpPr>
        <p:spPr>
          <a:xfrm>
            <a:off x="338903" y="76043"/>
            <a:ext cx="8670814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Фрагмент </a:t>
            </a:r>
            <a:r>
              <a:rPr lang="en-US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ER-</a:t>
            </a:r>
            <a:r>
              <a:rPr lang="ru-RU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диаграммы «Медицинские записи»</a:t>
            </a:r>
            <a:endParaRPr lang="en-US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23E548-3C79-472C-9AF1-6CE5FABCC6D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338904" y="1182965"/>
            <a:ext cx="8536532" cy="388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9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1074"/>
            <a:ext cx="9144000" cy="4542425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4" name="Text 1"/>
          <p:cNvSpPr/>
          <p:nvPr/>
        </p:nvSpPr>
        <p:spPr>
          <a:xfrm>
            <a:off x="338903" y="76043"/>
            <a:ext cx="8670814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Фрагмент </a:t>
            </a:r>
            <a:r>
              <a:rPr lang="en-US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ER-</a:t>
            </a:r>
            <a:r>
              <a:rPr lang="ru-RU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диаграммы «Складской учёт»</a:t>
            </a:r>
            <a:endParaRPr lang="en-US" sz="3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87E38E-40E9-4782-B952-7EA13B14325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595437" y="633911"/>
            <a:ext cx="59531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9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38E15444-58E0-4D4F-AE04-9993E7EB55B3}"/>
              </a:ext>
            </a:extLst>
          </p:cNvPr>
          <p:cNvSpPr/>
          <p:nvPr/>
        </p:nvSpPr>
        <p:spPr>
          <a:xfrm>
            <a:off x="0" y="0"/>
            <a:ext cx="3056526" cy="5143499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2" name="Text 0"/>
          <p:cNvSpPr/>
          <p:nvPr/>
        </p:nvSpPr>
        <p:spPr>
          <a:xfrm>
            <a:off x="3115771" y="3173"/>
            <a:ext cx="5943410" cy="572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Martel Sans" panose="020B0604020202020204" charset="0"/>
              </a:rPr>
              <a:t>Архитектура приложения</a:t>
            </a:r>
            <a:endParaRPr lang="en-US" sz="4000" dirty="0">
              <a:latin typeface="Martel Sans" panose="020B0604020202020204" charset="0"/>
              <a:cs typeface="Martel Sans" panose="020B060402020202020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34E2BC-87C3-46D4-9A36-27375BE8CCA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3204445" y="1119021"/>
            <a:ext cx="5766062" cy="3029345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B61CFF7-FAC0-487A-87C4-061C7DA53E05}"/>
              </a:ext>
            </a:extLst>
          </p:cNvPr>
          <p:cNvGrpSpPr/>
          <p:nvPr/>
        </p:nvGrpSpPr>
        <p:grpSpPr>
          <a:xfrm>
            <a:off x="173493" y="1119020"/>
            <a:ext cx="2710385" cy="3035368"/>
            <a:chOff x="523615" y="1791643"/>
            <a:chExt cx="3874595" cy="4350394"/>
          </a:xfrm>
        </p:grpSpPr>
        <p:pic>
          <p:nvPicPr>
            <p:cNvPr id="11" name="Image 1" descr="preencoded.png">
              <a:extLst>
                <a:ext uri="{FF2B5EF4-FFF2-40B4-BE49-F238E27FC236}">
                  <a16:creationId xmlns:a16="http://schemas.microsoft.com/office/drawing/2014/main" id="{8335BBAD-EE63-4354-821A-0C0192318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23615" y="1791643"/>
              <a:ext cx="868705" cy="1279057"/>
            </a:xfrm>
            <a:prstGeom prst="rect">
              <a:avLst/>
            </a:prstGeom>
            <a:noFill/>
          </p:spPr>
        </p:pic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309A3270-04E1-44C3-B0D6-ED1AE695E2FC}"/>
                </a:ext>
              </a:extLst>
            </p:cNvPr>
            <p:cNvSpPr/>
            <p:nvPr/>
          </p:nvSpPr>
          <p:spPr>
            <a:xfrm>
              <a:off x="1558570" y="2139930"/>
              <a:ext cx="2839639" cy="325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600" b="1" dirty="0">
                  <a:latin typeface="Book Antiqua" panose="02040602050305030304" pitchFamily="18" charset="0"/>
                  <a:ea typeface="Bricolage Grotesque Extra Bold" pitchFamily="34" charset="-122"/>
                  <a:cs typeface="Bricolage Grotesque Extra Bold" pitchFamily="34" charset="-120"/>
                </a:rPr>
                <a:t>Слой представления</a:t>
              </a:r>
              <a:endParaRPr lang="en-US" sz="1600" dirty="0">
                <a:latin typeface="Book Antiqua" panose="02040602050305030304" pitchFamily="18" charset="0"/>
              </a:endParaRPr>
            </a:p>
          </p:txBody>
        </p:sp>
        <p:pic>
          <p:nvPicPr>
            <p:cNvPr id="13" name="Image 2" descr="preencoded.png">
              <a:extLst>
                <a:ext uri="{FF2B5EF4-FFF2-40B4-BE49-F238E27FC236}">
                  <a16:creationId xmlns:a16="http://schemas.microsoft.com/office/drawing/2014/main" id="{3802DA90-089E-44C0-9395-90764465E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23615" y="3327312"/>
              <a:ext cx="868705" cy="1279059"/>
            </a:xfrm>
            <a:prstGeom prst="rect">
              <a:avLst/>
            </a:prstGeom>
            <a:noFill/>
          </p:spPr>
        </p:pic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1BC1E7E9-6FFA-4F9A-AAA8-1ABD2C56BDEB}"/>
                </a:ext>
              </a:extLst>
            </p:cNvPr>
            <p:cNvSpPr/>
            <p:nvPr/>
          </p:nvSpPr>
          <p:spPr>
            <a:xfrm>
              <a:off x="1617268" y="3675600"/>
              <a:ext cx="2780942" cy="325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600" b="1" dirty="0">
                  <a:latin typeface="Book Antiqua" panose="02040602050305030304" pitchFamily="18" charset="0"/>
                  <a:ea typeface="Bricolage Grotesque Extra Bold" pitchFamily="34" charset="-122"/>
                  <a:cs typeface="Bricolage Grotesque Extra Bold" pitchFamily="34" charset="-120"/>
                </a:rPr>
                <a:t>Слой бизнес-логики</a:t>
              </a:r>
              <a:endParaRPr lang="en-US" sz="1600" dirty="0">
                <a:latin typeface="Book Antiqua" panose="02040602050305030304" pitchFamily="18" charset="0"/>
              </a:endParaRPr>
            </a:p>
          </p:txBody>
        </p:sp>
        <p:pic>
          <p:nvPicPr>
            <p:cNvPr id="15" name="Image 3" descr="preencoded.png">
              <a:extLst>
                <a:ext uri="{FF2B5EF4-FFF2-40B4-BE49-F238E27FC236}">
                  <a16:creationId xmlns:a16="http://schemas.microsoft.com/office/drawing/2014/main" id="{2DE7C3EA-A1D8-40CA-83AB-80CB1ADE8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23615" y="4862977"/>
              <a:ext cx="868707" cy="1279060"/>
            </a:xfrm>
            <a:prstGeom prst="rect">
              <a:avLst/>
            </a:prstGeom>
            <a:noFill/>
          </p:spPr>
        </p:pic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DC419B79-1B58-439D-AA49-89D9038CF9B8}"/>
                </a:ext>
              </a:extLst>
            </p:cNvPr>
            <p:cNvSpPr/>
            <p:nvPr/>
          </p:nvSpPr>
          <p:spPr>
            <a:xfrm>
              <a:off x="1674655" y="5209844"/>
              <a:ext cx="2607469" cy="325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600" b="1" dirty="0">
                  <a:latin typeface="Book Antiqua" panose="02040602050305030304" pitchFamily="18" charset="0"/>
                  <a:ea typeface="Bricolage Grotesque Extra Bold" pitchFamily="34" charset="-122"/>
                  <a:cs typeface="Bricolage Grotesque Extra Bold" pitchFamily="34" charset="-120"/>
                </a:rPr>
                <a:t>Слой данных</a:t>
              </a:r>
              <a:endParaRPr lang="en-US" sz="1600" dirty="0">
                <a:latin typeface="Book Antiqua" panose="02040602050305030304" pitchFamily="18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904" y="26459"/>
            <a:ext cx="4362004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Выбранные инструменты разработки</a:t>
            </a:r>
            <a:endParaRPr lang="en-US" sz="4000" dirty="0"/>
          </a:p>
        </p:txBody>
      </p:sp>
      <p:sp>
        <p:nvSpPr>
          <p:cNvPr id="12" name="Shape 7"/>
          <p:cNvSpPr/>
          <p:nvPr/>
        </p:nvSpPr>
        <p:spPr>
          <a:xfrm>
            <a:off x="3497370" y="1327180"/>
            <a:ext cx="1919287" cy="2905210"/>
          </a:xfrm>
          <a:prstGeom prst="roundRect">
            <a:avLst>
              <a:gd name="adj" fmla="val 3685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A2796241-77C5-4A3A-A869-E6E93C699F9D}"/>
              </a:ext>
            </a:extLst>
          </p:cNvPr>
          <p:cNvGrpSpPr/>
          <p:nvPr/>
        </p:nvGrpSpPr>
        <p:grpSpPr>
          <a:xfrm>
            <a:off x="1215431" y="1327180"/>
            <a:ext cx="2117699" cy="2905210"/>
            <a:chOff x="380932" y="643533"/>
            <a:chExt cx="2117699" cy="2905210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D2E20A93-AAEB-46DF-9D77-0B5835C989D1}"/>
                </a:ext>
              </a:extLst>
            </p:cNvPr>
            <p:cNvSpPr/>
            <p:nvPr/>
          </p:nvSpPr>
          <p:spPr>
            <a:xfrm>
              <a:off x="380932" y="643533"/>
              <a:ext cx="2080689" cy="2905210"/>
            </a:xfrm>
            <a:prstGeom prst="roundRect">
              <a:avLst>
                <a:gd name="adj" fmla="val 3685"/>
              </a:avLst>
            </a:prstGeom>
            <a:solidFill>
              <a:srgbClr val="DFECE9"/>
            </a:solidFill>
            <a:ln w="4763">
              <a:solidFill>
                <a:srgbClr val="C5D2CF"/>
              </a:solidFill>
              <a:prstDash val="solid"/>
            </a:ln>
          </p:spPr>
        </p:sp>
        <p:pic>
          <p:nvPicPr>
            <p:cNvPr id="3" name="Image 0"/>
            <p:cNvPicPr>
              <a:picLocks/>
            </p:cNvPicPr>
            <p:nvPr/>
          </p:nvPicPr>
          <p:blipFill>
            <a:blip r:embed="rId3"/>
            <a:srcRect/>
            <a:stretch/>
          </p:blipFill>
          <p:spPr>
            <a:xfrm>
              <a:off x="474145" y="1693661"/>
              <a:ext cx="325194" cy="325194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00589" y="1772469"/>
              <a:ext cx="986358" cy="1660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Flutter (Dart)</a:t>
              </a:r>
              <a:endParaRPr lang="en-US" sz="1600" dirty="0"/>
            </a:p>
          </p:txBody>
        </p:sp>
        <p:pic>
          <p:nvPicPr>
            <p:cNvPr id="6" name="Image 1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41123" y="2336277"/>
              <a:ext cx="443508" cy="443508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995662" y="2340456"/>
              <a:ext cx="1502969" cy="4627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Python + FastAPI</a:t>
              </a:r>
              <a:endParaRPr lang="en-US" sz="1600" dirty="0"/>
            </a:p>
          </p:txBody>
        </p:sp>
        <p:pic>
          <p:nvPicPr>
            <p:cNvPr id="9" name="Image 2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88659" y="3032165"/>
              <a:ext cx="443508" cy="443508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1017292" y="3048943"/>
              <a:ext cx="1370307" cy="499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Microsoft SQL Server</a:t>
              </a:r>
              <a:endParaRPr lang="en-US" sz="1600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573AA890-2AEB-4056-BEA4-CBDD45ECF332}"/>
                </a:ext>
              </a:extLst>
            </p:cNvPr>
            <p:cNvSpPr/>
            <p:nvPr/>
          </p:nvSpPr>
          <p:spPr>
            <a:xfrm>
              <a:off x="455638" y="679818"/>
              <a:ext cx="986358" cy="1660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ru-RU" sz="16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Языки </a:t>
              </a:r>
            </a:p>
            <a:p>
              <a:pPr marL="0" indent="0" algn="l">
                <a:lnSpc>
                  <a:spcPct val="104000"/>
                </a:lnSpc>
                <a:buNone/>
              </a:pPr>
              <a:r>
                <a:rPr lang="ru-RU" sz="16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программирования </a:t>
              </a:r>
            </a:p>
            <a:p>
              <a:pPr marL="0" indent="0" algn="l">
                <a:lnSpc>
                  <a:spcPct val="104000"/>
                </a:lnSpc>
                <a:buNone/>
              </a:pPr>
              <a:r>
                <a:rPr lang="ru-RU" sz="16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и фреймворки</a:t>
              </a:r>
              <a:endParaRPr lang="en-US" sz="1600" dirty="0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EA5BD4D5-B1C5-425B-9A0B-2CF473823837}"/>
              </a:ext>
            </a:extLst>
          </p:cNvPr>
          <p:cNvGrpSpPr/>
          <p:nvPr/>
        </p:nvGrpSpPr>
        <p:grpSpPr>
          <a:xfrm>
            <a:off x="3589891" y="1381025"/>
            <a:ext cx="1789725" cy="1024348"/>
            <a:chOff x="3828005" y="697378"/>
            <a:chExt cx="1789725" cy="1024348"/>
          </a:xfrm>
        </p:grpSpPr>
        <p:sp>
          <p:nvSpPr>
            <p:cNvPr id="14" name="Text 9"/>
            <p:cNvSpPr/>
            <p:nvPr/>
          </p:nvSpPr>
          <p:spPr>
            <a:xfrm>
              <a:off x="4321184" y="1100406"/>
              <a:ext cx="1296546" cy="621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00" dirty="0">
                  <a:solidFill>
                    <a:srgbClr val="2C3249"/>
                  </a:solidFill>
                  <a:latin typeface="Martel Sans" pitchFamily="34" charset="0"/>
                  <a:ea typeface="Martel Sans" pitchFamily="34" charset="-122"/>
                  <a:cs typeface="Martel Sans" pitchFamily="34" charset="-120"/>
                </a:rPr>
                <a:t>Visual Studio</a:t>
              </a:r>
              <a:r>
                <a:rPr lang="ru-RU" sz="1600" dirty="0">
                  <a:solidFill>
                    <a:srgbClr val="2C3249"/>
                  </a:solidFill>
                  <a:latin typeface="Martel Sans" pitchFamily="34" charset="0"/>
                  <a:ea typeface="Martel Sans" pitchFamily="34" charset="-122"/>
                  <a:cs typeface="Martel Sans" pitchFamily="34" charset="-120"/>
                </a:rPr>
                <a:t> </a:t>
              </a:r>
              <a:r>
                <a:rPr lang="en-US" sz="1600" dirty="0">
                  <a:solidFill>
                    <a:srgbClr val="2C3249"/>
                  </a:solidFill>
                  <a:latin typeface="Martel Sans" pitchFamily="34" charset="0"/>
                  <a:ea typeface="Martel Sans" pitchFamily="34" charset="-122"/>
                  <a:cs typeface="Martel Sans" pitchFamily="34" charset="-120"/>
                </a:rPr>
                <a:t>Code</a:t>
              </a:r>
              <a:endParaRPr lang="en-US" sz="1600" dirty="0"/>
            </a:p>
          </p:txBody>
        </p:sp>
        <p:sp>
          <p:nvSpPr>
            <p:cNvPr id="25" name="Text 1">
              <a:extLst>
                <a:ext uri="{FF2B5EF4-FFF2-40B4-BE49-F238E27FC236}">
                  <a16:creationId xmlns:a16="http://schemas.microsoft.com/office/drawing/2014/main" id="{073C69CD-A4A4-4076-9AFD-C5F0D1B06EAA}"/>
                </a:ext>
              </a:extLst>
            </p:cNvPr>
            <p:cNvSpPr/>
            <p:nvPr/>
          </p:nvSpPr>
          <p:spPr>
            <a:xfrm>
              <a:off x="3828005" y="697378"/>
              <a:ext cx="986358" cy="1660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ru-RU" sz="16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Инструменты</a:t>
              </a:r>
            </a:p>
          </p:txBody>
        </p:sp>
        <p:pic>
          <p:nvPicPr>
            <p:cNvPr id="27" name="Image 0">
              <a:extLst>
                <a:ext uri="{FF2B5EF4-FFF2-40B4-BE49-F238E27FC236}">
                  <a16:creationId xmlns:a16="http://schemas.microsoft.com/office/drawing/2014/main" id="{245D94CB-43FE-4EED-A1AA-6598CFB2C5DF}"/>
                </a:ext>
              </a:extLst>
            </p:cNvPr>
            <p:cNvPicPr>
              <a:picLocks/>
            </p:cNvPicPr>
            <p:nvPr/>
          </p:nvPicPr>
          <p:blipFill>
            <a:blip r:embed="rId6"/>
            <a:srcRect/>
            <a:stretch/>
          </p:blipFill>
          <p:spPr>
            <a:xfrm>
              <a:off x="3870857" y="1171040"/>
              <a:ext cx="380952" cy="380952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95810FE7-1259-4FB0-8846-1A4E219CD138}"/>
              </a:ext>
            </a:extLst>
          </p:cNvPr>
          <p:cNvGrpSpPr/>
          <p:nvPr/>
        </p:nvGrpSpPr>
        <p:grpSpPr>
          <a:xfrm>
            <a:off x="5689880" y="1327179"/>
            <a:ext cx="2080688" cy="2905209"/>
            <a:chOff x="6730224" y="643532"/>
            <a:chExt cx="2080688" cy="2905209"/>
          </a:xfrm>
        </p:grpSpPr>
        <p:sp>
          <p:nvSpPr>
            <p:cNvPr id="15" name="Shape 10"/>
            <p:cNvSpPr/>
            <p:nvPr/>
          </p:nvSpPr>
          <p:spPr>
            <a:xfrm>
              <a:off x="6730224" y="643532"/>
              <a:ext cx="2080688" cy="2905209"/>
            </a:xfrm>
            <a:prstGeom prst="roundRect">
              <a:avLst>
                <a:gd name="adj" fmla="val 3685"/>
              </a:avLst>
            </a:prstGeom>
            <a:solidFill>
              <a:srgbClr val="DFECE9"/>
            </a:solidFill>
            <a:ln w="4763">
              <a:solidFill>
                <a:srgbClr val="C5D2CF"/>
              </a:solidFill>
              <a:prstDash val="solid"/>
            </a:ln>
          </p:spPr>
        </p:sp>
        <p:sp>
          <p:nvSpPr>
            <p:cNvPr id="16" name="Text 11"/>
            <p:cNvSpPr/>
            <p:nvPr/>
          </p:nvSpPr>
          <p:spPr>
            <a:xfrm>
              <a:off x="6804246" y="702281"/>
              <a:ext cx="1329035" cy="1660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Интеграции</a:t>
              </a:r>
              <a:endParaRPr lang="en-US" sz="10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7332918" y="1095290"/>
              <a:ext cx="1430150" cy="7441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00" dirty="0">
                  <a:solidFill>
                    <a:srgbClr val="2C3249"/>
                  </a:solidFill>
                  <a:latin typeface="Martel Sans" pitchFamily="34" charset="0"/>
                  <a:ea typeface="Martel Sans" pitchFamily="34" charset="-122"/>
                  <a:cs typeface="Martel Sans" pitchFamily="34" charset="-120"/>
                </a:rPr>
                <a:t>Firebase Cloud Messaging</a:t>
              </a:r>
              <a:endParaRPr lang="en-US" sz="1600" dirty="0"/>
            </a:p>
          </p:txBody>
        </p:sp>
        <p:pic>
          <p:nvPicPr>
            <p:cNvPr id="28" name="Image 0">
              <a:extLst>
                <a:ext uri="{FF2B5EF4-FFF2-40B4-BE49-F238E27FC236}">
                  <a16:creationId xmlns:a16="http://schemas.microsoft.com/office/drawing/2014/main" id="{845D9DE3-0F11-4379-905B-1C8F191A5157}"/>
                </a:ext>
              </a:extLst>
            </p:cNvPr>
            <p:cNvPicPr>
              <a:picLocks/>
            </p:cNvPicPr>
            <p:nvPr/>
          </p:nvPicPr>
          <p:blipFill>
            <a:blip r:embed="rId7"/>
            <a:srcRect/>
            <a:stretch/>
          </p:blipFill>
          <p:spPr>
            <a:xfrm>
              <a:off x="6897401" y="1155639"/>
              <a:ext cx="365714" cy="3657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904" y="26459"/>
            <a:ext cx="4362004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Функции приложение</a:t>
            </a:r>
            <a:endParaRPr lang="en-US" sz="4000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F8BAF591-2916-493F-8602-D5303F02BE81}"/>
              </a:ext>
            </a:extLst>
          </p:cNvPr>
          <p:cNvSpPr/>
          <p:nvPr/>
        </p:nvSpPr>
        <p:spPr>
          <a:xfrm>
            <a:off x="384264" y="667032"/>
            <a:ext cx="8382466" cy="3681164"/>
          </a:xfrm>
          <a:prstGeom prst="roundRect">
            <a:avLst>
              <a:gd name="adj" fmla="val 4337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CD304-9DC8-40BE-966E-01F56F3374DF}"/>
              </a:ext>
            </a:extLst>
          </p:cNvPr>
          <p:cNvSpPr txBox="1"/>
          <p:nvPr/>
        </p:nvSpPr>
        <p:spPr>
          <a:xfrm>
            <a:off x="466792" y="667032"/>
            <a:ext cx="82104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alibri" panose="020F0502020204030204" pitchFamily="34" charset="0"/>
              <a:buChar char="―"/>
            </a:pPr>
            <a:r>
              <a:rPr lang="ru-RU" dirty="0">
                <a:cs typeface="Kanit Light" panose="020B0604020202020204" charset="-34"/>
              </a:rPr>
              <a:t>запись питомца на приём регистратором;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ru-RU" dirty="0">
                <a:cs typeface="Kanit Light" panose="020B0604020202020204" charset="-34"/>
              </a:rPr>
              <a:t>запись питомца на приём пациентом владельцем через мобильное приложение;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ru-RU" dirty="0">
                <a:cs typeface="Kanit Light" panose="020B0604020202020204" charset="-34"/>
              </a:rPr>
              <a:t>приём пациента врачом;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ru-RU" dirty="0">
                <a:cs typeface="Kanit Light" panose="020B0604020202020204" charset="-34"/>
              </a:rPr>
              <a:t>ведение дневника здоровья питомца с возможностью верификации врачом;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ru-RU" dirty="0">
                <a:cs typeface="Kanit Light" panose="020B0604020202020204" charset="-34"/>
              </a:rPr>
              <a:t>загрузка и просмотр медицинских файлов;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ru-RU" dirty="0">
                <a:cs typeface="Kanit Light" panose="020B0604020202020204" charset="-34"/>
              </a:rPr>
              <a:t>генерация отчётов с экспортом в CSV;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ru-RU" dirty="0">
                <a:cs typeface="Kanit Light" panose="020B0604020202020204" charset="-34"/>
              </a:rPr>
              <a:t>работа с лабораторными направлениями;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ru-RU" dirty="0" err="1">
                <a:cs typeface="Kanit Light" panose="020B0604020202020204" charset="-34"/>
              </a:rPr>
              <a:t>push</a:t>
            </a:r>
            <a:r>
              <a:rPr lang="ru-RU" dirty="0">
                <a:cs typeface="Kanit Light" panose="020B0604020202020204" charset="-34"/>
              </a:rPr>
              <a:t>-уведомления о приёме;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ru-RU" dirty="0">
                <a:cs typeface="Kanit Light" panose="020B0604020202020204" charset="-34"/>
              </a:rPr>
              <a:t>управление структурой медцентра (виды животных, породы, диагнозы, специализации, категории товаров, услуги, типы анализов, вакцины);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ru-RU" dirty="0">
                <a:cs typeface="Kanit Light" panose="020B0604020202020204" charset="-34"/>
              </a:rPr>
              <a:t>управление рабочим графиком врачей (добавление, редактирование, удаление смены с автоматическим переносом записей при болезни/отпуске);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endParaRPr lang="ru-RU" dirty="0">
              <a:cs typeface="Kanit Light" panose="020B060402020202020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31699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870" y="182821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Демонстрация </a:t>
            </a:r>
            <a:r>
              <a:rPr lang="ru-RU" sz="400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реальной части</a:t>
            </a:r>
            <a:endParaRPr lang="en-US" sz="40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58980" y="1349745"/>
            <a:ext cx="3090937" cy="30909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463</Words>
  <Application>Microsoft Office PowerPoint</Application>
  <PresentationFormat>Экран (16:9)</PresentationFormat>
  <Paragraphs>83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Kanit Light</vt:lpstr>
      <vt:lpstr>Martel Sans</vt:lpstr>
      <vt:lpstr>Calibri</vt:lpstr>
      <vt:lpstr>Book Antiqua</vt:lpstr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pop pop</cp:lastModifiedBy>
  <cp:revision>23</cp:revision>
  <dcterms:created xsi:type="dcterms:W3CDTF">2026-05-31T08:58:12Z</dcterms:created>
  <dcterms:modified xsi:type="dcterms:W3CDTF">2026-05-31T17:33:57Z</dcterms:modified>
</cp:coreProperties>
</file>